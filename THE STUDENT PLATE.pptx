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6"/>
  </p:notesMasterIdLst>
  <p:sldIdLst>
    <p:sldId id="256" r:id="rId5"/>
  </p:sldIdLst>
  <p:sldSz cx="15113000" cy="21374100"/>
  <p:notesSz cx="6858000" cy="9144000"/>
  <p:embeddedFontLst>
    <p:embeddedFont>
      <p:font typeface="Gagalin" panose="020B0604020202020204" charset="0"/>
      <p:regular r:id="rId7"/>
    </p:embeddedFont>
    <p:embeddedFont>
      <p:font typeface="Open Sauce 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0A9F"/>
    <a:srgbClr val="7909CD"/>
    <a:srgbClr val="B3B7FF"/>
    <a:srgbClr val="DEC6EC"/>
    <a:srgbClr val="FCB6B6"/>
    <a:srgbClr val="F8BABE"/>
    <a:srgbClr val="639B7C"/>
    <a:srgbClr val="5CA2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0" d="100"/>
          <a:sy n="70" d="100"/>
        </p:scale>
        <p:origin x="494" y="-45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9BCD67-3361-4BAF-B7F4-9C5DD62AF77A}" type="datetimeFigureOut">
              <a:rPr lang="en-US" smtClean="0"/>
              <a:t>9/17/2025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60D66-BA77-41EA-B82C-DE1F3FAA59DD}" type="slidenum">
              <a:rPr lang="en-US" smtClean="0"/>
              <a:t>‹#›</a:t>
            </a:fld>
            <a:endParaRPr lang="en-US"/>
          </a:p>
        </p:txBody>
      </p:sp>
    </p:spTree>
    <p:extLst>
      <p:ext uri="{BB962C8B-B14F-4D97-AF65-F5344CB8AC3E}">
        <p14:creationId xmlns:p14="http://schemas.microsoft.com/office/powerpoint/2010/main" val="1868273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460D66-BA77-41EA-B82C-DE1F3FAA59DD}" type="slidenum">
              <a:rPr lang="en-US" smtClean="0"/>
              <a:t>1</a:t>
            </a:fld>
            <a:endParaRPr lang="en-US"/>
          </a:p>
        </p:txBody>
      </p:sp>
    </p:spTree>
    <p:extLst>
      <p:ext uri="{BB962C8B-B14F-4D97-AF65-F5344CB8AC3E}">
        <p14:creationId xmlns:p14="http://schemas.microsoft.com/office/powerpoint/2010/main" val="4061000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5" name="TextBox 5"/>
          <p:cNvSpPr txBox="1"/>
          <p:nvPr/>
        </p:nvSpPr>
        <p:spPr>
          <a:xfrm>
            <a:off x="2430786" y="515285"/>
            <a:ext cx="11678605" cy="384721"/>
          </a:xfrm>
          <a:prstGeom prst="rect">
            <a:avLst/>
          </a:prstGeom>
          <a:noFill/>
          <a:ln>
            <a:noFill/>
          </a:ln>
        </p:spPr>
        <p:txBody>
          <a:bodyPr wrap="square" lIns="0" tIns="0" rIns="0" bIns="0" rtlCol="0" anchor="t">
            <a:spAutoFit/>
          </a:bodyPr>
          <a:lstStyle/>
          <a:p>
            <a:pPr algn="ctr">
              <a:lnSpc>
                <a:spcPts val="3007"/>
              </a:lnSpc>
            </a:pPr>
            <a:endParaRPr lang="en-US" sz="3497" dirty="0">
              <a:solidFill>
                <a:srgbClr val="FFFFFF"/>
              </a:solidFill>
              <a:latin typeface="Gagalin"/>
              <a:ea typeface="Gagalin"/>
              <a:cs typeface="Gagalin"/>
              <a:sym typeface="Gagalin"/>
            </a:endParaRPr>
          </a:p>
        </p:txBody>
      </p:sp>
      <p:sp>
        <p:nvSpPr>
          <p:cNvPr id="16" name="AutoShape 16"/>
          <p:cNvSpPr/>
          <p:nvPr/>
        </p:nvSpPr>
        <p:spPr>
          <a:xfrm>
            <a:off x="8699499" y="17423953"/>
            <a:ext cx="6413499" cy="3945152"/>
          </a:xfrm>
          <a:prstGeom prst="rect">
            <a:avLst/>
          </a:prstGeom>
          <a:solidFill>
            <a:srgbClr val="F1E6B8"/>
          </a:solidFill>
        </p:spPr>
        <p:txBody>
          <a:bodyPr/>
          <a:lstStyle/>
          <a:p>
            <a:endParaRPr lang="en-US" dirty="0"/>
          </a:p>
        </p:txBody>
      </p:sp>
      <p:sp>
        <p:nvSpPr>
          <p:cNvPr id="20" name="AutoShape 20"/>
          <p:cNvSpPr/>
          <p:nvPr/>
        </p:nvSpPr>
        <p:spPr>
          <a:xfrm>
            <a:off x="0" y="5934983"/>
            <a:ext cx="15113000" cy="11125238"/>
          </a:xfrm>
          <a:prstGeom prst="rect">
            <a:avLst/>
          </a:prstGeom>
          <a:solidFill>
            <a:srgbClr val="F1E6B8"/>
          </a:solidFill>
        </p:spPr>
        <p:txBody>
          <a:bodyPr/>
          <a:lstStyle/>
          <a:p>
            <a:endParaRPr lang="en-US" dirty="0"/>
          </a:p>
        </p:txBody>
      </p:sp>
      <p:sp>
        <p:nvSpPr>
          <p:cNvPr id="58" name="AutoShape 58"/>
          <p:cNvSpPr/>
          <p:nvPr/>
        </p:nvSpPr>
        <p:spPr>
          <a:xfrm>
            <a:off x="-41940" y="20072875"/>
            <a:ext cx="8741438" cy="1329658"/>
          </a:xfrm>
          <a:prstGeom prst="rect">
            <a:avLst/>
          </a:prstGeom>
          <a:solidFill>
            <a:srgbClr val="F1E6B8"/>
          </a:solidFill>
        </p:spPr>
        <p:txBody>
          <a:bodyPr/>
          <a:lstStyle/>
          <a:p>
            <a:pPr algn="just"/>
            <a:r>
              <a:rPr lang="en-US" b="1" dirty="0">
                <a:latin typeface="Times New Roman" panose="02020603050405020304" pitchFamily="18" charset="0"/>
                <a:cs typeface="Times New Roman" panose="02020603050405020304" pitchFamily="18" charset="0"/>
              </a:rPr>
              <a:t>[1]. 2023 YRBS Results: Latest survey highlights on student behaviors, including sleep and safety </a:t>
            </a:r>
            <a:r>
              <a:rPr lang="en-US" b="1" dirty="0" err="1">
                <a:latin typeface="Times New Roman" panose="02020603050405020304" pitchFamily="18" charset="0"/>
                <a:cs typeface="Times New Roman" panose="02020603050405020304" pitchFamily="18" charset="0"/>
              </a:rPr>
              <a:t>concerns.https</a:t>
            </a:r>
            <a:r>
              <a:rPr lang="en-US" b="1" dirty="0">
                <a:latin typeface="Times New Roman" panose="02020603050405020304" pitchFamily="18" charset="0"/>
                <a:cs typeface="Times New Roman" panose="02020603050405020304" pitchFamily="18" charset="0"/>
              </a:rPr>
              <a:t>://www.cdc.gov/yrbs/results/2023-yrbs-results.html </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Adapted from CDC YRBS and nutritional health studies.</a:t>
            </a:r>
          </a:p>
        </p:txBody>
      </p:sp>
      <p:grpSp>
        <p:nvGrpSpPr>
          <p:cNvPr id="73" name="Group 73"/>
          <p:cNvGrpSpPr/>
          <p:nvPr/>
        </p:nvGrpSpPr>
        <p:grpSpPr>
          <a:xfrm>
            <a:off x="-28612" y="17428947"/>
            <a:ext cx="14968009" cy="2262831"/>
            <a:chOff x="-37405" y="685805"/>
            <a:chExt cx="19568550" cy="3033696"/>
          </a:xfrm>
        </p:grpSpPr>
        <p:sp>
          <p:nvSpPr>
            <p:cNvPr id="74" name="AutoShape 74"/>
            <p:cNvSpPr/>
            <p:nvPr/>
          </p:nvSpPr>
          <p:spPr>
            <a:xfrm>
              <a:off x="-37405" y="685805"/>
              <a:ext cx="11458174" cy="3033696"/>
            </a:xfrm>
            <a:prstGeom prst="rect">
              <a:avLst/>
            </a:prstGeom>
            <a:solidFill>
              <a:srgbClr val="F1E6B8"/>
            </a:solidFill>
          </p:spPr>
          <p:txBody>
            <a:bodyPr/>
            <a:lstStyle/>
            <a:p>
              <a:pPr algn="just">
                <a:lnSpc>
                  <a:spcPts val="1881"/>
                </a:lnSpc>
              </a:pPr>
              <a:endParaRPr lang="en-US" sz="1600" dirty="0">
                <a:latin typeface="Times New Roman" panose="02020603050405020304" pitchFamily="18" charset="0"/>
                <a:cs typeface="Times New Roman" panose="02020603050405020304" pitchFamily="18" charset="0"/>
              </a:endParaRPr>
            </a:p>
            <a:p>
              <a:pPr algn="just">
                <a:lnSpc>
                  <a:spcPts val="1881"/>
                </a:lnSpc>
              </a:pPr>
              <a:r>
                <a:rPr lang="en-US" sz="1700" b="1" dirty="0">
                  <a:latin typeface="Times New Roman" panose="02020603050405020304" pitchFamily="18" charset="0"/>
                  <a:cs typeface="Times New Roman" panose="02020603050405020304" pitchFamily="18" charset="0"/>
                </a:rPr>
                <a:t>A total of  90 students participated in this study on balancing nutrition and lifestyle</a:t>
              </a:r>
              <a:r>
                <a:rPr lang="en-US" sz="1700" b="1" dirty="0">
                  <a:solidFill>
                    <a:srgbClr val="0E0E0E"/>
                  </a:solidFill>
                  <a:latin typeface="Times New Roman" panose="02020603050405020304" pitchFamily="18" charset="0"/>
                  <a:ea typeface="Open Sauce Bold"/>
                  <a:cs typeface="Times New Roman" panose="02020603050405020304" pitchFamily="18" charset="0"/>
                  <a:sym typeface="Open Sauce Bold"/>
                </a:rPr>
                <a:t>. Participants came from various occupational backgrounds:</a:t>
              </a:r>
            </a:p>
            <a:p>
              <a:pPr algn="ctr">
                <a:lnSpc>
                  <a:spcPts val="1881"/>
                </a:lnSpc>
              </a:pPr>
              <a:endParaRPr lang="en-US" sz="1600" b="1" dirty="0">
                <a:solidFill>
                  <a:srgbClr val="0E0E0E"/>
                </a:solidFill>
                <a:latin typeface="Times New Roman" panose="02020603050405020304" pitchFamily="18" charset="0"/>
                <a:ea typeface="Open Sauce Bold"/>
                <a:cs typeface="Times New Roman" panose="02020603050405020304" pitchFamily="18" charset="0"/>
                <a:sym typeface="Open Sauce Bold"/>
              </a:endParaRPr>
            </a:p>
            <a:p>
              <a:pPr algn="ctr">
                <a:lnSpc>
                  <a:spcPts val="1881"/>
                </a:lnSpc>
              </a:pPr>
              <a:r>
                <a:rPr lang="en-US" sz="1600" b="1" dirty="0">
                  <a:solidFill>
                    <a:srgbClr val="0E0E0E"/>
                  </a:solidFill>
                  <a:latin typeface="Times New Roman" panose="02020603050405020304" pitchFamily="18" charset="0"/>
                  <a:ea typeface="Open Sauce Bold"/>
                  <a:cs typeface="Times New Roman" panose="02020603050405020304" pitchFamily="18" charset="0"/>
                  <a:sym typeface="Open Sauce Bold"/>
                </a:rPr>
                <a:t>Students: 96.7%                                                  Others: 3.3%</a:t>
              </a:r>
              <a:endParaRPr lang="en-US" sz="1600" dirty="0">
                <a:solidFill>
                  <a:srgbClr val="0E0E0E"/>
                </a:solidFill>
                <a:latin typeface="Times New Roman" panose="02020603050405020304" pitchFamily="18" charset="0"/>
                <a:ea typeface="Open Sauce Bold"/>
                <a:cs typeface="Times New Roman" panose="02020603050405020304" pitchFamily="18" charset="0"/>
                <a:sym typeface="Open Sauce Bold"/>
              </a:endParaRPr>
            </a:p>
            <a:p>
              <a:pPr algn="just">
                <a:lnSpc>
                  <a:spcPts val="1746"/>
                </a:lnSpc>
              </a:pPr>
              <a:r>
                <a:rPr lang="en-US" sz="1700" dirty="0">
                  <a:solidFill>
                    <a:srgbClr val="0E0E0E"/>
                  </a:solidFill>
                  <a:latin typeface="Times New Roman" panose="02020603050405020304" pitchFamily="18" charset="0"/>
                  <a:ea typeface="Open Sauce Bold"/>
                  <a:cs typeface="Times New Roman" panose="02020603050405020304" pitchFamily="18" charset="0"/>
                  <a:sym typeface="Open Sauce Bold"/>
                </a:rPr>
                <a:t>Primary data was collected via Google Forms, while secondary information was obtained from online studies. All data were analyzed using Microsoft Excel, and insights were presented through graphs and visual charts. Participant confidentiality was strictly maintained, and consent was taken before data collection.</a:t>
              </a:r>
            </a:p>
            <a:p>
              <a:endParaRPr lang="en-US" sz="1400" dirty="0"/>
            </a:p>
          </p:txBody>
        </p:sp>
        <p:sp>
          <p:nvSpPr>
            <p:cNvPr id="75" name="TextBox 75"/>
            <p:cNvSpPr txBox="1"/>
            <p:nvPr/>
          </p:nvSpPr>
          <p:spPr>
            <a:xfrm>
              <a:off x="114432" y="741004"/>
              <a:ext cx="19416713" cy="255571"/>
            </a:xfrm>
            <a:prstGeom prst="rect">
              <a:avLst/>
            </a:prstGeom>
          </p:spPr>
          <p:txBody>
            <a:bodyPr wrap="square" lIns="0" tIns="0" rIns="0" bIns="0" rtlCol="0" anchor="t">
              <a:spAutoFit/>
            </a:bodyPr>
            <a:lstStyle/>
            <a:p>
              <a:pPr algn="just">
                <a:lnSpc>
                  <a:spcPts val="1611"/>
                </a:lnSpc>
              </a:pPr>
              <a:endParaRPr lang="en-US" sz="1247" b="1" dirty="0">
                <a:solidFill>
                  <a:srgbClr val="0E0E0E"/>
                </a:solidFill>
                <a:latin typeface="Open Sauce Bold"/>
                <a:ea typeface="Open Sauce Bold"/>
                <a:cs typeface="Open Sauce Bold"/>
                <a:sym typeface="Open Sauce Bold"/>
              </a:endParaRPr>
            </a:p>
          </p:txBody>
        </p:sp>
      </p:grpSp>
      <p:sp>
        <p:nvSpPr>
          <p:cNvPr id="32" name="Rectangle 31">
            <a:extLst>
              <a:ext uri="{FF2B5EF4-FFF2-40B4-BE49-F238E27FC236}">
                <a16:creationId xmlns:a16="http://schemas.microsoft.com/office/drawing/2014/main" id="{F518FEED-FF03-2EBF-9DBC-B2FE54106A35}"/>
              </a:ext>
            </a:extLst>
          </p:cNvPr>
          <p:cNvSpPr/>
          <p:nvPr/>
        </p:nvSpPr>
        <p:spPr>
          <a:xfrm>
            <a:off x="3027190" y="185325"/>
            <a:ext cx="7175346" cy="1693132"/>
          </a:xfrm>
          <a:prstGeom prst="rect">
            <a:avLst/>
          </a:prstGeom>
          <a:solidFill>
            <a:srgbClr val="0070C0"/>
          </a:solid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4000" dirty="0">
                <a:solidFill>
                  <a:schemeClr val="bg1"/>
                </a:solidFill>
                <a:latin typeface="Gagalin" panose="020B0604020202020204" charset="0"/>
              </a:rPr>
              <a:t>The Student Plate: Balancing Nutrition and Lifestyle</a:t>
            </a:r>
          </a:p>
        </p:txBody>
      </p:sp>
      <p:sp>
        <p:nvSpPr>
          <p:cNvPr id="33" name="Rectangle 32">
            <a:extLst>
              <a:ext uri="{FF2B5EF4-FFF2-40B4-BE49-F238E27FC236}">
                <a16:creationId xmlns:a16="http://schemas.microsoft.com/office/drawing/2014/main" id="{65938039-F0DC-CF5B-4E93-D85EAF8985A3}"/>
              </a:ext>
            </a:extLst>
          </p:cNvPr>
          <p:cNvSpPr/>
          <p:nvPr/>
        </p:nvSpPr>
        <p:spPr>
          <a:xfrm>
            <a:off x="159614" y="2710507"/>
            <a:ext cx="3869942" cy="18004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solidFill>
                <a:latin typeface="Times New Roman" panose="02020603050405020304" pitchFamily="18" charset="0"/>
                <a:cs typeface="Times New Roman" panose="02020603050405020304" pitchFamily="18" charset="0"/>
              </a:rPr>
              <a:t>This presentation explores the nutritional habits of students, examining how their dietary choices impact their academic performance and physical health.</a:t>
            </a:r>
          </a:p>
        </p:txBody>
      </p:sp>
      <p:sp>
        <p:nvSpPr>
          <p:cNvPr id="34" name="Rectangle: Diagonal Corners Rounded 33">
            <a:extLst>
              <a:ext uri="{FF2B5EF4-FFF2-40B4-BE49-F238E27FC236}">
                <a16:creationId xmlns:a16="http://schemas.microsoft.com/office/drawing/2014/main" id="{854A2BA1-55EE-16F6-B44D-EFD8F4A09711}"/>
              </a:ext>
            </a:extLst>
          </p:cNvPr>
          <p:cNvSpPr/>
          <p:nvPr/>
        </p:nvSpPr>
        <p:spPr>
          <a:xfrm>
            <a:off x="937514" y="2096032"/>
            <a:ext cx="2400549" cy="628552"/>
          </a:xfrm>
          <a:prstGeom prst="round2Diag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dirty="0">
                <a:solidFill>
                  <a:schemeClr val="bg1"/>
                </a:solidFill>
                <a:latin typeface="Gagalin" panose="020B0604020202020204" charset="0"/>
              </a:rPr>
              <a:t>ABSTRACT</a:t>
            </a:r>
          </a:p>
        </p:txBody>
      </p:sp>
      <p:sp>
        <p:nvSpPr>
          <p:cNvPr id="35" name="Rectangle 34">
            <a:extLst>
              <a:ext uri="{FF2B5EF4-FFF2-40B4-BE49-F238E27FC236}">
                <a16:creationId xmlns:a16="http://schemas.microsoft.com/office/drawing/2014/main" id="{8ED5750F-2F64-B5E7-A2DC-D6FB5B8E4047}"/>
              </a:ext>
            </a:extLst>
          </p:cNvPr>
          <p:cNvSpPr/>
          <p:nvPr/>
        </p:nvSpPr>
        <p:spPr>
          <a:xfrm>
            <a:off x="4179623" y="2502619"/>
            <a:ext cx="4952870" cy="34240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solidFill>
                <a:latin typeface="Times New Roman" panose="02020603050405020304" pitchFamily="18" charset="0"/>
                <a:cs typeface="Times New Roman" panose="02020603050405020304" pitchFamily="18" charset="0"/>
              </a:rPr>
              <a:t>A balanced diet gives students the fuel their body and mind need to perform at their best. When combined with enough sleep, regular exercise, and healthy stress management, it creates a strong foundation for overall well-being. Eating the right mix of nutrients improves focus, memory, and academic performance, boosts energy, supports growth, and lowers the risk of future health problems.</a:t>
            </a:r>
          </a:p>
        </p:txBody>
      </p:sp>
      <p:sp>
        <p:nvSpPr>
          <p:cNvPr id="36" name="Rectangle: Diagonal Corners Rounded 35">
            <a:extLst>
              <a:ext uri="{FF2B5EF4-FFF2-40B4-BE49-F238E27FC236}">
                <a16:creationId xmlns:a16="http://schemas.microsoft.com/office/drawing/2014/main" id="{FFC973D5-F285-F6AC-196A-A7C27D740A05}"/>
              </a:ext>
            </a:extLst>
          </p:cNvPr>
          <p:cNvSpPr/>
          <p:nvPr/>
        </p:nvSpPr>
        <p:spPr>
          <a:xfrm>
            <a:off x="5227664" y="2105017"/>
            <a:ext cx="3173393" cy="628552"/>
          </a:xfrm>
          <a:prstGeom prst="round2DiagRect">
            <a:avLst/>
          </a:prstGeom>
          <a:solidFill>
            <a:srgbClr val="7030A0"/>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dirty="0">
                <a:solidFill>
                  <a:schemeClr val="bg1"/>
                </a:solidFill>
                <a:latin typeface="Gagalin" panose="020B0604020202020204" charset="0"/>
              </a:rPr>
              <a:t>INTRODUCTION</a:t>
            </a:r>
          </a:p>
        </p:txBody>
      </p:sp>
      <p:sp>
        <p:nvSpPr>
          <p:cNvPr id="78" name="Rectangle: Diagonal Corners Rounded 77">
            <a:extLst>
              <a:ext uri="{FF2B5EF4-FFF2-40B4-BE49-F238E27FC236}">
                <a16:creationId xmlns:a16="http://schemas.microsoft.com/office/drawing/2014/main" id="{1FFA9F5C-F448-5BB1-BF52-DF63B3CA362B}"/>
              </a:ext>
            </a:extLst>
          </p:cNvPr>
          <p:cNvSpPr/>
          <p:nvPr/>
        </p:nvSpPr>
        <p:spPr>
          <a:xfrm>
            <a:off x="10639309" y="2105017"/>
            <a:ext cx="3173393" cy="628552"/>
          </a:xfrm>
          <a:prstGeom prst="round2Diag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700"/>
              </a:lnSpc>
              <a:spcBef>
                <a:spcPct val="0"/>
              </a:spcBef>
            </a:pPr>
            <a:r>
              <a:rPr lang="en-US" sz="2800" dirty="0">
                <a:solidFill>
                  <a:schemeClr val="bg1"/>
                </a:solidFill>
                <a:latin typeface="Gagalin"/>
                <a:ea typeface="Gagalin"/>
                <a:cs typeface="Gagalin"/>
                <a:sym typeface="Gagalin"/>
              </a:rPr>
              <a:t>Methodology</a:t>
            </a:r>
          </a:p>
        </p:txBody>
      </p:sp>
      <p:sp>
        <p:nvSpPr>
          <p:cNvPr id="79" name="Rectangle 78">
            <a:extLst>
              <a:ext uri="{FF2B5EF4-FFF2-40B4-BE49-F238E27FC236}">
                <a16:creationId xmlns:a16="http://schemas.microsoft.com/office/drawing/2014/main" id="{27379E7E-8CCE-D0AB-BE39-9090E4CE14E4}"/>
              </a:ext>
            </a:extLst>
          </p:cNvPr>
          <p:cNvSpPr/>
          <p:nvPr/>
        </p:nvSpPr>
        <p:spPr>
          <a:xfrm>
            <a:off x="9248437" y="2609851"/>
            <a:ext cx="5802936" cy="32839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solidFill>
                <a:latin typeface="Times New Roman" panose="02020603050405020304" pitchFamily="18" charset="0"/>
                <a:cs typeface="Times New Roman" panose="02020603050405020304" pitchFamily="18" charset="0"/>
              </a:rPr>
              <a:t>A survey was conducted among 90 students to study their nutritional habits and lifestyle balance. The questionnaire focused on meal patterns, dietary quality, energy levels, and their perceived impact on academic performance and health. Collected data were analyzed in Excel, with key findings presented through graphs and charts. Additionally, hypothesis testing and basic forecasting techniques were applied to identify trends and potential future changes in student performance.</a:t>
            </a:r>
          </a:p>
        </p:txBody>
      </p:sp>
      <p:sp>
        <p:nvSpPr>
          <p:cNvPr id="80" name="Rectangle: Diagonal Corners Rounded 79">
            <a:extLst>
              <a:ext uri="{FF2B5EF4-FFF2-40B4-BE49-F238E27FC236}">
                <a16:creationId xmlns:a16="http://schemas.microsoft.com/office/drawing/2014/main" id="{18CC40A8-F259-10D0-C634-9EF9FCB12A35}"/>
              </a:ext>
            </a:extLst>
          </p:cNvPr>
          <p:cNvSpPr/>
          <p:nvPr/>
        </p:nvSpPr>
        <p:spPr>
          <a:xfrm>
            <a:off x="623031" y="5405628"/>
            <a:ext cx="2400549" cy="628552"/>
          </a:xfrm>
          <a:prstGeom prst="round2DiagRect">
            <a:avLst/>
          </a:prstGeom>
          <a:solidFill>
            <a:srgbClr val="00B050"/>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dirty="0">
                <a:solidFill>
                  <a:srgbClr val="FFFFFF"/>
                </a:solidFill>
                <a:latin typeface="Gagalin"/>
                <a:ea typeface="Gagalin"/>
                <a:cs typeface="Gagalin"/>
                <a:sym typeface="Gagalin"/>
              </a:rPr>
              <a:t>Results</a:t>
            </a:r>
            <a:endParaRPr lang="en-US" sz="2800" dirty="0">
              <a:solidFill>
                <a:srgbClr val="FFFF00"/>
              </a:solidFill>
              <a:latin typeface="Gagalin" panose="020B0604020202020204" charset="0"/>
            </a:endParaRPr>
          </a:p>
        </p:txBody>
      </p:sp>
      <p:sp>
        <p:nvSpPr>
          <p:cNvPr id="81" name="Rectangle: Rounded Corners 80">
            <a:extLst>
              <a:ext uri="{FF2B5EF4-FFF2-40B4-BE49-F238E27FC236}">
                <a16:creationId xmlns:a16="http://schemas.microsoft.com/office/drawing/2014/main" id="{A2A37FAB-E94E-6F3D-AA2B-C583D90386E3}"/>
              </a:ext>
            </a:extLst>
          </p:cNvPr>
          <p:cNvSpPr/>
          <p:nvPr/>
        </p:nvSpPr>
        <p:spPr>
          <a:xfrm>
            <a:off x="10511955" y="211431"/>
            <a:ext cx="4340517" cy="1665300"/>
          </a:xfrm>
          <a:prstGeom prst="roundRect">
            <a:avLst/>
          </a:prstGeom>
          <a:solidFill>
            <a:srgbClr val="5CA27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Group: 06 | SECTION: D</a:t>
            </a:r>
          </a:p>
          <a:p>
            <a:pPr indent="-228600">
              <a:lnSpc>
                <a:spcPct val="90000"/>
              </a:lnSpc>
              <a:spcBef>
                <a:spcPts val="1000"/>
              </a:spcBef>
              <a:buClr>
                <a:schemeClr val="accent1"/>
              </a:buClr>
              <a:buSzPct val="80000"/>
              <a:buFont typeface="Arial" panose="020B0604020202020204" pitchFamily="34" charset="0"/>
              <a:buChar char="•"/>
            </a:pPr>
            <a:r>
              <a:rPr lang="en-US" sz="1600" b="1" dirty="0">
                <a:solidFill>
                  <a:schemeClr val="bg1"/>
                </a:solidFill>
              </a:rPr>
              <a:t>Ananta Saha, Arghya Das, Anyka Akter Ayna, </a:t>
            </a:r>
            <a:r>
              <a:rPr lang="en-US" sz="1600" b="1" dirty="0" err="1">
                <a:solidFill>
                  <a:schemeClr val="bg1"/>
                </a:solidFill>
              </a:rPr>
              <a:t>Istiak</a:t>
            </a:r>
            <a:r>
              <a:rPr lang="en-US" sz="1600" b="1" dirty="0">
                <a:solidFill>
                  <a:schemeClr val="bg1"/>
                </a:solidFill>
              </a:rPr>
              <a:t> Raihan Bhuiyan, Md Shahriar Hossain</a:t>
            </a:r>
            <a:r>
              <a:rPr lang="en-US" sz="1600" dirty="0">
                <a:solidFill>
                  <a:schemeClr val="bg1"/>
                </a:solidFill>
              </a:rPr>
              <a:t>.</a:t>
            </a:r>
            <a:endParaRPr lang="en-US" sz="1600" b="1" dirty="0">
              <a:solidFill>
                <a:schemeClr val="bg1"/>
              </a:solidFill>
            </a:endParaRPr>
          </a:p>
          <a:p>
            <a:pPr algn="ctr"/>
            <a:r>
              <a:rPr lang="en-US" sz="1600" b="1" dirty="0">
                <a:solidFill>
                  <a:schemeClr val="bg1"/>
                </a:solidFill>
              </a:rPr>
              <a:t> </a:t>
            </a:r>
            <a:r>
              <a:rPr lang="en-US" sz="1600" b="1" dirty="0">
                <a:solidFill>
                  <a:schemeClr val="tx1"/>
                </a:solidFill>
              </a:rPr>
              <a:t>Course Instructor: </a:t>
            </a:r>
          </a:p>
          <a:p>
            <a:pPr algn="ctr"/>
            <a:r>
              <a:rPr lang="en-US" sz="1600" b="1" dirty="0">
                <a:solidFill>
                  <a:schemeClr val="bg1"/>
                </a:solidFill>
              </a:rPr>
              <a:t>FATEMA TUZ ZOHRA</a:t>
            </a:r>
          </a:p>
        </p:txBody>
      </p:sp>
      <p:pic>
        <p:nvPicPr>
          <p:cNvPr id="84" name="Picture 2" descr="American International University-Bangladesh - Wikipedia">
            <a:extLst>
              <a:ext uri="{FF2B5EF4-FFF2-40B4-BE49-F238E27FC236}">
                <a16:creationId xmlns:a16="http://schemas.microsoft.com/office/drawing/2014/main" id="{3627AFD4-A3E6-7CBD-181C-9DAE47F31E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090" y="96692"/>
            <a:ext cx="2073584" cy="193880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D831AF0-5967-D2EB-163C-4EBCE1811F90}"/>
              </a:ext>
            </a:extLst>
          </p:cNvPr>
          <p:cNvSpPr/>
          <p:nvPr/>
        </p:nvSpPr>
        <p:spPr>
          <a:xfrm>
            <a:off x="133169" y="12896850"/>
            <a:ext cx="2775132" cy="24002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H₀ :Good diet does not affect academic performance.</a:t>
            </a:r>
          </a:p>
          <a:p>
            <a:endParaRPr lang="en-US" sz="2000" dirty="0">
              <a:solidFill>
                <a:schemeClr val="tx1"/>
              </a:solidFill>
            </a:endParaRPr>
          </a:p>
          <a:p>
            <a:r>
              <a:rPr lang="en-US" sz="2000" dirty="0">
                <a:solidFill>
                  <a:schemeClr val="tx1"/>
                </a:solidFill>
              </a:rPr>
              <a:t>H₁: Good diet affects academic performance.</a:t>
            </a:r>
          </a:p>
        </p:txBody>
      </p:sp>
      <p:sp>
        <p:nvSpPr>
          <p:cNvPr id="3" name="Rectangle: Diagonal Corners Rounded 2">
            <a:extLst>
              <a:ext uri="{FF2B5EF4-FFF2-40B4-BE49-F238E27FC236}">
                <a16:creationId xmlns:a16="http://schemas.microsoft.com/office/drawing/2014/main" id="{3159A7F3-AE90-C4CE-FDB1-1BACD62D4EFF}"/>
              </a:ext>
            </a:extLst>
          </p:cNvPr>
          <p:cNvSpPr/>
          <p:nvPr/>
        </p:nvSpPr>
        <p:spPr>
          <a:xfrm>
            <a:off x="1815561" y="12230586"/>
            <a:ext cx="3173393" cy="567031"/>
          </a:xfrm>
          <a:prstGeom prst="round2DiagRect">
            <a:avLst/>
          </a:prstGeom>
          <a:solidFill>
            <a:schemeClr val="accent4">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700"/>
              </a:lnSpc>
              <a:spcBef>
                <a:spcPct val="0"/>
              </a:spcBef>
            </a:pPr>
            <a:r>
              <a:rPr lang="en-US" sz="2800" dirty="0">
                <a:latin typeface="Gagalin" panose="020B0604020202020204" charset="0"/>
              </a:rPr>
              <a:t>HYPOTHESES</a:t>
            </a:r>
            <a:endParaRPr lang="en-US" sz="3200" dirty="0">
              <a:solidFill>
                <a:schemeClr val="bg1"/>
              </a:solidFill>
              <a:latin typeface="Gagalin" panose="020B0604020202020204" charset="0"/>
              <a:ea typeface="Gagalin"/>
              <a:cs typeface="Gagalin"/>
              <a:sym typeface="Gagalin"/>
            </a:endParaRPr>
          </a:p>
        </p:txBody>
      </p:sp>
      <p:sp>
        <p:nvSpPr>
          <p:cNvPr id="4" name="Rectangle: Diagonal Corners Rounded 3">
            <a:extLst>
              <a:ext uri="{FF2B5EF4-FFF2-40B4-BE49-F238E27FC236}">
                <a16:creationId xmlns:a16="http://schemas.microsoft.com/office/drawing/2014/main" id="{25917319-EF3A-232E-72ED-6911FC5B3369}"/>
              </a:ext>
            </a:extLst>
          </p:cNvPr>
          <p:cNvSpPr/>
          <p:nvPr/>
        </p:nvSpPr>
        <p:spPr>
          <a:xfrm>
            <a:off x="7465916" y="12446541"/>
            <a:ext cx="3173393" cy="573387"/>
          </a:xfrm>
          <a:prstGeom prst="round2DiagRect">
            <a:avLst/>
          </a:prstGeom>
          <a:solidFill>
            <a:srgbClr val="5CA27C"/>
          </a:solidFill>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700"/>
              </a:lnSpc>
              <a:spcBef>
                <a:spcPct val="0"/>
              </a:spcBef>
            </a:pPr>
            <a:r>
              <a:rPr lang="en-US" sz="2800" dirty="0">
                <a:solidFill>
                  <a:schemeClr val="bg1"/>
                </a:solidFill>
                <a:latin typeface="Gagalin" panose="020B0604020202020204" charset="0"/>
                <a:ea typeface="Open Sauce Bold"/>
                <a:cs typeface="Open Sauce Bold"/>
                <a:sym typeface="Open Sauce Bold"/>
              </a:rPr>
              <a:t>FORCASTING</a:t>
            </a:r>
            <a:endParaRPr lang="en-US" sz="3200" dirty="0">
              <a:solidFill>
                <a:schemeClr val="bg1"/>
              </a:solidFill>
              <a:latin typeface="Gagalin" panose="020B0604020202020204" charset="0"/>
              <a:ea typeface="Gagalin"/>
              <a:cs typeface="Gagalin"/>
              <a:sym typeface="Gagalin"/>
            </a:endParaRPr>
          </a:p>
        </p:txBody>
      </p:sp>
      <p:sp>
        <p:nvSpPr>
          <p:cNvPr id="6" name="Rectangle 5">
            <a:extLst>
              <a:ext uri="{FF2B5EF4-FFF2-40B4-BE49-F238E27FC236}">
                <a16:creationId xmlns:a16="http://schemas.microsoft.com/office/drawing/2014/main" id="{F2798171-BD74-AB5E-03D1-02AE0E1AF8E8}"/>
              </a:ext>
            </a:extLst>
          </p:cNvPr>
          <p:cNvSpPr/>
          <p:nvPr/>
        </p:nvSpPr>
        <p:spPr>
          <a:xfrm>
            <a:off x="11057068" y="12382201"/>
            <a:ext cx="3922764" cy="44862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900" i="1" dirty="0">
                <a:solidFill>
                  <a:schemeClr val="tx1"/>
                </a:solidFill>
                <a:latin typeface="Times New Roman" panose="02020603050405020304" pitchFamily="18" charset="0"/>
                <a:cs typeface="Times New Roman" panose="02020603050405020304" pitchFamily="18" charset="0"/>
              </a:rPr>
              <a:t>Based on the data from 2007 to 2023 showing a declining trend in the percentage of students engaged in healthy lifestyle habits due to dietary factors (from 30.9% in 2007 to 23.0% in 2023), a continued decrease is projected. Using a polynomial trendline, the engagement is expected to drop further, potentially reaching approximately 20% by 2028, assuming current dietary and lifestyle pressures persist. This suggests a growing challenge in balancing nutrition and lifestyle among students, necessitating targeted interventions</a:t>
            </a:r>
            <a:r>
              <a:rPr lang="en-US" sz="1900" b="1" i="1" dirty="0">
                <a:solidFill>
                  <a:schemeClr val="tx1"/>
                </a:solidFill>
                <a:latin typeface="Times New Roman" panose="02020603050405020304" pitchFamily="18" charset="0"/>
                <a:cs typeface="Times New Roman" panose="02020603050405020304" pitchFamily="18" charset="0"/>
              </a:rPr>
              <a:t>.</a:t>
            </a:r>
          </a:p>
        </p:txBody>
      </p:sp>
      <p:cxnSp>
        <p:nvCxnSpPr>
          <p:cNvPr id="8" name="Straight Connector 7">
            <a:extLst>
              <a:ext uri="{FF2B5EF4-FFF2-40B4-BE49-F238E27FC236}">
                <a16:creationId xmlns:a16="http://schemas.microsoft.com/office/drawing/2014/main" id="{4DD3AA6D-860F-7C28-2285-F742C7511445}"/>
              </a:ext>
            </a:extLst>
          </p:cNvPr>
          <p:cNvCxnSpPr>
            <a:cxnSpLocks/>
          </p:cNvCxnSpPr>
          <p:nvPr/>
        </p:nvCxnSpPr>
        <p:spPr>
          <a:xfrm>
            <a:off x="4155399" y="2771597"/>
            <a:ext cx="10483" cy="28257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4109BEF-F90A-ED2C-1150-00A0BBAE91CA}"/>
              </a:ext>
            </a:extLst>
          </p:cNvPr>
          <p:cNvCxnSpPr>
            <a:cxnSpLocks/>
          </p:cNvCxnSpPr>
          <p:nvPr/>
        </p:nvCxnSpPr>
        <p:spPr>
          <a:xfrm>
            <a:off x="9248437" y="2745592"/>
            <a:ext cx="1629" cy="278448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30BC77F-4949-69D3-BBA5-06905B627F4B}"/>
              </a:ext>
            </a:extLst>
          </p:cNvPr>
          <p:cNvCxnSpPr>
            <a:cxnSpLocks/>
          </p:cNvCxnSpPr>
          <p:nvPr/>
        </p:nvCxnSpPr>
        <p:spPr>
          <a:xfrm>
            <a:off x="6870700" y="12668894"/>
            <a:ext cx="0" cy="4199589"/>
          </a:xfrm>
          <a:prstGeom prst="line">
            <a:avLst/>
          </a:prstGeom>
        </p:spPr>
        <p:style>
          <a:lnRef idx="1">
            <a:schemeClr val="accent2"/>
          </a:lnRef>
          <a:fillRef idx="0">
            <a:schemeClr val="accent2"/>
          </a:fillRef>
          <a:effectRef idx="0">
            <a:schemeClr val="accent2"/>
          </a:effectRef>
          <a:fontRef idx="minor">
            <a:schemeClr val="tx1"/>
          </a:fontRef>
        </p:style>
      </p:cxnSp>
      <p:sp>
        <p:nvSpPr>
          <p:cNvPr id="26" name="Rectangle: Diagonal Corners Rounded 25">
            <a:extLst>
              <a:ext uri="{FF2B5EF4-FFF2-40B4-BE49-F238E27FC236}">
                <a16:creationId xmlns:a16="http://schemas.microsoft.com/office/drawing/2014/main" id="{0529876A-21E1-D6F7-B45B-BF0563816938}"/>
              </a:ext>
            </a:extLst>
          </p:cNvPr>
          <p:cNvSpPr/>
          <p:nvPr/>
        </p:nvSpPr>
        <p:spPr>
          <a:xfrm>
            <a:off x="2430786" y="17031194"/>
            <a:ext cx="3173393" cy="532229"/>
          </a:xfrm>
          <a:prstGeom prst="round2DiagRect">
            <a:avLst/>
          </a:prstGeom>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700"/>
              </a:lnSpc>
              <a:spcBef>
                <a:spcPct val="0"/>
              </a:spcBef>
            </a:pPr>
            <a:r>
              <a:rPr lang="en-US" sz="2800" dirty="0">
                <a:solidFill>
                  <a:srgbClr val="FFFFFF"/>
                </a:solidFill>
                <a:latin typeface="Gagalin"/>
                <a:ea typeface="Gagalin"/>
                <a:cs typeface="Gagalin"/>
                <a:sym typeface="Gagalin"/>
              </a:rPr>
              <a:t>DATA SOURCE</a:t>
            </a:r>
          </a:p>
        </p:txBody>
      </p:sp>
      <p:sp>
        <p:nvSpPr>
          <p:cNvPr id="27" name="Rectangle: Diagonal Corners Rounded 26">
            <a:extLst>
              <a:ext uri="{FF2B5EF4-FFF2-40B4-BE49-F238E27FC236}">
                <a16:creationId xmlns:a16="http://schemas.microsoft.com/office/drawing/2014/main" id="{BD79F77B-AB77-AA38-C499-E4FF0A3778D0}"/>
              </a:ext>
            </a:extLst>
          </p:cNvPr>
          <p:cNvSpPr/>
          <p:nvPr/>
        </p:nvSpPr>
        <p:spPr>
          <a:xfrm>
            <a:off x="2546674" y="19651115"/>
            <a:ext cx="3173393" cy="472372"/>
          </a:xfrm>
          <a:prstGeom prst="round2DiagRect">
            <a:avLst/>
          </a:prstGeom>
          <a:solidFill>
            <a:schemeClr val="accent1">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970"/>
              </a:lnSpc>
              <a:spcBef>
                <a:spcPct val="0"/>
              </a:spcBef>
            </a:pPr>
            <a:r>
              <a:rPr lang="en-US" sz="2800" dirty="0">
                <a:solidFill>
                  <a:srgbClr val="FFFFFF"/>
                </a:solidFill>
                <a:latin typeface="Gagalin"/>
                <a:ea typeface="Gagalin"/>
                <a:cs typeface="Gagalin"/>
                <a:sym typeface="Gagalin"/>
              </a:rPr>
              <a:t>Reference</a:t>
            </a:r>
          </a:p>
        </p:txBody>
      </p:sp>
      <p:sp>
        <p:nvSpPr>
          <p:cNvPr id="28" name="Rectangle: Diagonal Corners Rounded 27">
            <a:extLst>
              <a:ext uri="{FF2B5EF4-FFF2-40B4-BE49-F238E27FC236}">
                <a16:creationId xmlns:a16="http://schemas.microsoft.com/office/drawing/2014/main" id="{E989F214-6037-9461-DE8D-AEABF13EDE54}"/>
              </a:ext>
            </a:extLst>
          </p:cNvPr>
          <p:cNvSpPr/>
          <p:nvPr/>
        </p:nvSpPr>
        <p:spPr>
          <a:xfrm>
            <a:off x="10563208" y="17031194"/>
            <a:ext cx="3173393" cy="510352"/>
          </a:xfrm>
          <a:prstGeom prst="round2DiagRect">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970"/>
              </a:lnSpc>
              <a:spcBef>
                <a:spcPct val="0"/>
              </a:spcBef>
            </a:pPr>
            <a:r>
              <a:rPr lang="en-US" sz="2800" dirty="0">
                <a:solidFill>
                  <a:srgbClr val="FFFFFF"/>
                </a:solidFill>
                <a:latin typeface="Gagalin"/>
                <a:ea typeface="Gagalin"/>
                <a:cs typeface="Gagalin"/>
                <a:sym typeface="Gagalin"/>
              </a:rPr>
              <a:t>Conclusion</a:t>
            </a:r>
          </a:p>
        </p:txBody>
      </p:sp>
      <p:sp>
        <p:nvSpPr>
          <p:cNvPr id="29" name="Rectangle 28">
            <a:extLst>
              <a:ext uri="{FF2B5EF4-FFF2-40B4-BE49-F238E27FC236}">
                <a16:creationId xmlns:a16="http://schemas.microsoft.com/office/drawing/2014/main" id="{72FCC745-DC34-6101-A909-0F38EC7D216B}"/>
              </a:ext>
            </a:extLst>
          </p:cNvPr>
          <p:cNvSpPr/>
          <p:nvPr/>
        </p:nvSpPr>
        <p:spPr>
          <a:xfrm>
            <a:off x="87528" y="19833775"/>
            <a:ext cx="8764372" cy="13471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ADDE9890-FDFE-5AF4-C981-787F97F5177C}"/>
              </a:ext>
            </a:extLst>
          </p:cNvPr>
          <p:cNvCxnSpPr>
            <a:cxnSpLocks/>
          </p:cNvCxnSpPr>
          <p:nvPr/>
        </p:nvCxnSpPr>
        <p:spPr>
          <a:xfrm>
            <a:off x="8699500" y="17701922"/>
            <a:ext cx="0" cy="3525187"/>
          </a:xfrm>
          <a:prstGeom prst="line">
            <a:avLst/>
          </a:prstGeom>
        </p:spPr>
        <p:style>
          <a:lnRef idx="1">
            <a:schemeClr val="dk1"/>
          </a:lnRef>
          <a:fillRef idx="0">
            <a:schemeClr val="dk1"/>
          </a:fillRef>
          <a:effectRef idx="0">
            <a:schemeClr val="dk1"/>
          </a:effectRef>
          <a:fontRef idx="minor">
            <a:schemeClr val="tx1"/>
          </a:fontRef>
        </p:style>
      </p:cxnSp>
      <p:sp>
        <p:nvSpPr>
          <p:cNvPr id="87" name="Rectangle 86">
            <a:extLst>
              <a:ext uri="{FF2B5EF4-FFF2-40B4-BE49-F238E27FC236}">
                <a16:creationId xmlns:a16="http://schemas.microsoft.com/office/drawing/2014/main" id="{946FE494-5848-7ECB-671D-D9EF4437D2FE}"/>
              </a:ext>
            </a:extLst>
          </p:cNvPr>
          <p:cNvSpPr/>
          <p:nvPr/>
        </p:nvSpPr>
        <p:spPr>
          <a:xfrm>
            <a:off x="8851899" y="17701922"/>
            <a:ext cx="6127927" cy="348685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dirty="0"/>
              <a:t>The data shows that students’ eating habits strongly affect their health and studies. Many skip breakfast or choose quick, unhealthy food, which lowers energy and focus. Most students rate their diet as only “moderate,” and this is linked with more fatigue and weaker academic results. If these habits continue, healthy lifestyles may drop further in the future. The biggest barriers for students are lack of time to prepare meals and the high cost of nutritious options. Still, many students want to improve, so support and guidance are needed to help them eat better and perform well.</a:t>
            </a:r>
          </a:p>
        </p:txBody>
      </p:sp>
      <p:pic>
        <p:nvPicPr>
          <p:cNvPr id="9" name="Picture 8" descr="A graph showing the percentage of student engaged in healthy life&#10;&#10;AI-generated content may be incorrect.">
            <a:extLst>
              <a:ext uri="{FF2B5EF4-FFF2-40B4-BE49-F238E27FC236}">
                <a16:creationId xmlns:a16="http://schemas.microsoft.com/office/drawing/2014/main" id="{1032C57E-F8C6-4250-5C29-17B9ECCD7F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7715" y="13345830"/>
            <a:ext cx="3922764" cy="3117712"/>
          </a:xfrm>
          <a:prstGeom prst="rect">
            <a:avLst/>
          </a:prstGeom>
        </p:spPr>
      </p:pic>
      <p:pic>
        <p:nvPicPr>
          <p:cNvPr id="12" name="Picture 11">
            <a:extLst>
              <a:ext uri="{FF2B5EF4-FFF2-40B4-BE49-F238E27FC236}">
                <a16:creationId xmlns:a16="http://schemas.microsoft.com/office/drawing/2014/main" id="{358569DD-07A5-938E-4E46-0DF150AE9EFE}"/>
              </a:ext>
            </a:extLst>
          </p:cNvPr>
          <p:cNvPicPr>
            <a:picLocks noChangeAspect="1"/>
          </p:cNvPicPr>
          <p:nvPr/>
        </p:nvPicPr>
        <p:blipFill>
          <a:blip r:embed="rId5"/>
          <a:stretch>
            <a:fillRect/>
          </a:stretch>
        </p:blipFill>
        <p:spPr>
          <a:xfrm>
            <a:off x="199015" y="6095269"/>
            <a:ext cx="4415270" cy="2774580"/>
          </a:xfrm>
          <a:prstGeom prst="rect">
            <a:avLst/>
          </a:prstGeom>
        </p:spPr>
      </p:pic>
      <p:pic>
        <p:nvPicPr>
          <p:cNvPr id="15" name="Picture 14">
            <a:extLst>
              <a:ext uri="{FF2B5EF4-FFF2-40B4-BE49-F238E27FC236}">
                <a16:creationId xmlns:a16="http://schemas.microsoft.com/office/drawing/2014/main" id="{1A01A52A-35EF-502E-A318-D83160B2E0B7}"/>
              </a:ext>
            </a:extLst>
          </p:cNvPr>
          <p:cNvPicPr>
            <a:picLocks noChangeAspect="1"/>
          </p:cNvPicPr>
          <p:nvPr/>
        </p:nvPicPr>
        <p:blipFill>
          <a:blip r:embed="rId6"/>
          <a:stretch>
            <a:fillRect/>
          </a:stretch>
        </p:blipFill>
        <p:spPr>
          <a:xfrm>
            <a:off x="5088973" y="6078609"/>
            <a:ext cx="4478016" cy="2791240"/>
          </a:xfrm>
          <a:prstGeom prst="rect">
            <a:avLst/>
          </a:prstGeom>
        </p:spPr>
      </p:pic>
      <p:pic>
        <p:nvPicPr>
          <p:cNvPr id="23" name="Picture 22" descr="A graph showing the rate of daily diet&#10;&#10;AI-generated content may be incorrect.">
            <a:extLst>
              <a:ext uri="{FF2B5EF4-FFF2-40B4-BE49-F238E27FC236}">
                <a16:creationId xmlns:a16="http://schemas.microsoft.com/office/drawing/2014/main" id="{B7E703ED-47CA-CD7F-E99C-FA6E58BED3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72087" y="6095639"/>
            <a:ext cx="4794710" cy="2786472"/>
          </a:xfrm>
          <a:prstGeom prst="rect">
            <a:avLst/>
          </a:prstGeom>
        </p:spPr>
      </p:pic>
      <p:pic>
        <p:nvPicPr>
          <p:cNvPr id="25" name="Picture 24" descr="A graph showing the performance of a performance&#10;&#10;AI-generated content may be incorrect.">
            <a:extLst>
              <a:ext uri="{FF2B5EF4-FFF2-40B4-BE49-F238E27FC236}">
                <a16:creationId xmlns:a16="http://schemas.microsoft.com/office/drawing/2014/main" id="{EC7018FE-3CEC-C0F3-A339-69CD27924D2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88974" y="9289988"/>
            <a:ext cx="4491452" cy="2731728"/>
          </a:xfrm>
          <a:prstGeom prst="rect">
            <a:avLst/>
          </a:prstGeom>
        </p:spPr>
      </p:pic>
      <p:cxnSp>
        <p:nvCxnSpPr>
          <p:cNvPr id="37" name="Straight Connector 36">
            <a:extLst>
              <a:ext uri="{FF2B5EF4-FFF2-40B4-BE49-F238E27FC236}">
                <a16:creationId xmlns:a16="http://schemas.microsoft.com/office/drawing/2014/main" id="{28CCF619-5090-433D-FD7F-EAD1FBB28B59}"/>
              </a:ext>
            </a:extLst>
          </p:cNvPr>
          <p:cNvCxnSpPr/>
          <p:nvPr/>
        </p:nvCxnSpPr>
        <p:spPr>
          <a:xfrm>
            <a:off x="4813300" y="6095639"/>
            <a:ext cx="0" cy="2791239"/>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4E9422A2-56DF-46F1-082D-47DC7DEF4AE2}"/>
              </a:ext>
            </a:extLst>
          </p:cNvPr>
          <p:cNvCxnSpPr/>
          <p:nvPr/>
        </p:nvCxnSpPr>
        <p:spPr>
          <a:xfrm>
            <a:off x="9869537" y="6095639"/>
            <a:ext cx="0" cy="2791239"/>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9606DF26-21EE-5033-304B-3450A42E08A0}"/>
              </a:ext>
            </a:extLst>
          </p:cNvPr>
          <p:cNvCxnSpPr>
            <a:cxnSpLocks/>
          </p:cNvCxnSpPr>
          <p:nvPr/>
        </p:nvCxnSpPr>
        <p:spPr>
          <a:xfrm>
            <a:off x="4823986" y="9303851"/>
            <a:ext cx="0" cy="2717865"/>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16954EA1-BA40-B2BC-AC73-507BF1AED277}"/>
              </a:ext>
            </a:extLst>
          </p:cNvPr>
          <p:cNvCxnSpPr>
            <a:cxnSpLocks/>
          </p:cNvCxnSpPr>
          <p:nvPr/>
        </p:nvCxnSpPr>
        <p:spPr>
          <a:xfrm flipH="1">
            <a:off x="9864970" y="9303851"/>
            <a:ext cx="4567" cy="2855168"/>
          </a:xfrm>
          <a:prstGeom prst="line">
            <a:avLst/>
          </a:prstGeom>
        </p:spPr>
        <p:style>
          <a:lnRef idx="1">
            <a:schemeClr val="dk1"/>
          </a:lnRef>
          <a:fillRef idx="0">
            <a:schemeClr val="dk1"/>
          </a:fillRef>
          <a:effectRef idx="0">
            <a:schemeClr val="dk1"/>
          </a:effectRef>
          <a:fontRef idx="minor">
            <a:schemeClr val="tx1"/>
          </a:fontRef>
        </p:style>
      </p:cxnSp>
      <p:pic>
        <p:nvPicPr>
          <p:cNvPr id="46" name="Picture 45">
            <a:extLst>
              <a:ext uri="{FF2B5EF4-FFF2-40B4-BE49-F238E27FC236}">
                <a16:creationId xmlns:a16="http://schemas.microsoft.com/office/drawing/2014/main" id="{278C1C26-0956-7020-FBBA-694229559780}"/>
              </a:ext>
            </a:extLst>
          </p:cNvPr>
          <p:cNvPicPr>
            <a:picLocks noChangeAspect="1"/>
          </p:cNvPicPr>
          <p:nvPr/>
        </p:nvPicPr>
        <p:blipFill>
          <a:blip r:embed="rId9"/>
          <a:stretch>
            <a:fillRect/>
          </a:stretch>
        </p:blipFill>
        <p:spPr>
          <a:xfrm>
            <a:off x="199016" y="9303851"/>
            <a:ext cx="4415269" cy="2726657"/>
          </a:xfrm>
          <a:prstGeom prst="rect">
            <a:avLst/>
          </a:prstGeom>
        </p:spPr>
      </p:pic>
      <p:sp>
        <p:nvSpPr>
          <p:cNvPr id="47" name="Rectangle: Diagonal Corners Rounded 46">
            <a:extLst>
              <a:ext uri="{FF2B5EF4-FFF2-40B4-BE49-F238E27FC236}">
                <a16:creationId xmlns:a16="http://schemas.microsoft.com/office/drawing/2014/main" id="{16652B68-172D-C008-4B99-B2E2977457D1}"/>
              </a:ext>
            </a:extLst>
          </p:cNvPr>
          <p:cNvSpPr/>
          <p:nvPr/>
        </p:nvSpPr>
        <p:spPr>
          <a:xfrm>
            <a:off x="10992992" y="8945132"/>
            <a:ext cx="3173393" cy="542038"/>
          </a:xfrm>
          <a:prstGeom prst="round2DiagRect">
            <a:avLst/>
          </a:prstGeom>
          <a:solidFill>
            <a:schemeClr val="accent3">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lnSpc>
                <a:spcPts val="2700"/>
              </a:lnSpc>
              <a:spcBef>
                <a:spcPct val="0"/>
              </a:spcBef>
            </a:pPr>
            <a:r>
              <a:rPr lang="en-US" sz="2800" dirty="0">
                <a:latin typeface="Gagalin" panose="020B0604020202020204" charset="0"/>
              </a:rPr>
              <a:t>discussion</a:t>
            </a:r>
            <a:r>
              <a:rPr lang="en-US" sz="2800" dirty="0"/>
              <a:t> </a:t>
            </a:r>
            <a:endParaRPr lang="en-US" sz="3200" dirty="0">
              <a:solidFill>
                <a:schemeClr val="bg1"/>
              </a:solidFill>
              <a:latin typeface="Gagalin" panose="020B0604020202020204" charset="0"/>
              <a:ea typeface="Gagalin"/>
              <a:cs typeface="Gagalin"/>
              <a:sym typeface="Gagalin"/>
            </a:endParaRPr>
          </a:p>
        </p:txBody>
      </p:sp>
      <p:sp>
        <p:nvSpPr>
          <p:cNvPr id="48" name="Rectangle 47">
            <a:extLst>
              <a:ext uri="{FF2B5EF4-FFF2-40B4-BE49-F238E27FC236}">
                <a16:creationId xmlns:a16="http://schemas.microsoft.com/office/drawing/2014/main" id="{248B5179-E4C6-B0C7-6EE9-DEA20DDD1FA3}"/>
              </a:ext>
            </a:extLst>
          </p:cNvPr>
          <p:cNvSpPr/>
          <p:nvPr/>
        </p:nvSpPr>
        <p:spPr>
          <a:xfrm>
            <a:off x="9994900" y="9517389"/>
            <a:ext cx="4984926" cy="264819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lgn="just">
              <a:buFont typeface="+mj-lt"/>
              <a:buAutoNum type="romanLcPeriod"/>
            </a:pPr>
            <a:r>
              <a:rPr lang="en-US" sz="2100" dirty="0">
                <a:solidFill>
                  <a:schemeClr val="tx1"/>
                </a:solidFill>
                <a:latin typeface="Times New Roman" panose="02020603050405020304" pitchFamily="18" charset="0"/>
                <a:cs typeface="Times New Roman" panose="02020603050405020304" pitchFamily="18" charset="0"/>
              </a:rPr>
              <a:t>Many students skip breakfast or eat fast food. This can make them feel tired and have less focus.</a:t>
            </a:r>
          </a:p>
          <a:p>
            <a:pPr marL="514350" indent="-514350" algn="just">
              <a:buFont typeface="+mj-lt"/>
              <a:buAutoNum type="romanLcPeriod"/>
            </a:pPr>
            <a:r>
              <a:rPr lang="en-US" sz="2100" dirty="0">
                <a:solidFill>
                  <a:schemeClr val="tx1"/>
                </a:solidFill>
                <a:latin typeface="Times New Roman" panose="02020603050405020304" pitchFamily="18" charset="0"/>
                <a:cs typeface="Times New Roman" panose="02020603050405020304" pitchFamily="18" charset="0"/>
              </a:rPr>
              <a:t>Most students say their daily diet is medium. They could eat healthier food.</a:t>
            </a:r>
          </a:p>
          <a:p>
            <a:pPr marL="514350" indent="-514350" algn="just">
              <a:buFont typeface="+mj-lt"/>
              <a:buAutoNum type="romanLcPeriod"/>
            </a:pPr>
            <a:r>
              <a:rPr lang="en-US" sz="2100" dirty="0">
                <a:solidFill>
                  <a:schemeClr val="tx1"/>
                </a:solidFill>
                <a:latin typeface="Times New Roman" panose="02020603050405020304" pitchFamily="18" charset="0"/>
                <a:cs typeface="Times New Roman" panose="02020603050405020304" pitchFamily="18" charset="0"/>
              </a:rPr>
              <a:t>Students with low or medium energy often have medium grades. This shows diet can affect school performance.</a:t>
            </a:r>
          </a:p>
        </p:txBody>
      </p:sp>
      <p:sp>
        <p:nvSpPr>
          <p:cNvPr id="17" name="Rectangle 16">
            <a:extLst>
              <a:ext uri="{FF2B5EF4-FFF2-40B4-BE49-F238E27FC236}">
                <a16:creationId xmlns:a16="http://schemas.microsoft.com/office/drawing/2014/main" id="{D3E0A0C3-3270-01B7-EB74-861573742D30}"/>
              </a:ext>
            </a:extLst>
          </p:cNvPr>
          <p:cNvSpPr/>
          <p:nvPr/>
        </p:nvSpPr>
        <p:spPr>
          <a:xfrm>
            <a:off x="1697440" y="15638602"/>
            <a:ext cx="3434860" cy="11385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Chi Square Test Result : </a:t>
            </a:r>
            <a:r>
              <a:rPr lang="en-US" sz="1600" b="1" dirty="0">
                <a:solidFill>
                  <a:schemeClr val="tx1"/>
                </a:solidFill>
              </a:rPr>
              <a:t>16.87&gt; 3.84 </a:t>
            </a:r>
            <a:r>
              <a:rPr lang="en-US" sz="1600" dirty="0">
                <a:solidFill>
                  <a:schemeClr val="tx1"/>
                </a:solidFill>
              </a:rPr>
              <a:t>(</a:t>
            </a:r>
            <a:r>
              <a:rPr lang="en-US" sz="1600" b="1" dirty="0">
                <a:solidFill>
                  <a:schemeClr val="tx1"/>
                </a:solidFill>
              </a:rPr>
              <a:t>Rejected</a:t>
            </a:r>
            <a:r>
              <a:rPr lang="en-US" sz="1600" dirty="0">
                <a:solidFill>
                  <a:schemeClr val="tx1"/>
                </a:solidFill>
              </a:rPr>
              <a:t>)</a:t>
            </a:r>
          </a:p>
          <a:p>
            <a:r>
              <a:rPr lang="en-US" sz="1600" dirty="0">
                <a:solidFill>
                  <a:schemeClr val="tx1"/>
                </a:solidFill>
              </a:rPr>
              <a:t>So, Good diet affects academic performance.</a:t>
            </a:r>
          </a:p>
        </p:txBody>
      </p:sp>
      <p:cxnSp>
        <p:nvCxnSpPr>
          <p:cNvPr id="41" name="Straight Connector 40">
            <a:extLst>
              <a:ext uri="{FF2B5EF4-FFF2-40B4-BE49-F238E27FC236}">
                <a16:creationId xmlns:a16="http://schemas.microsoft.com/office/drawing/2014/main" id="{28416A4E-ED0F-D988-DF20-64607AFA90CD}"/>
              </a:ext>
            </a:extLst>
          </p:cNvPr>
          <p:cNvCxnSpPr>
            <a:cxnSpLocks/>
          </p:cNvCxnSpPr>
          <p:nvPr/>
        </p:nvCxnSpPr>
        <p:spPr>
          <a:xfrm>
            <a:off x="-41940" y="12152845"/>
            <a:ext cx="9911477" cy="12739"/>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9DB4FE9-3359-DB9A-EA3D-26DEC006529E}"/>
              </a:ext>
            </a:extLst>
          </p:cNvPr>
          <p:cNvCxnSpPr>
            <a:cxnSpLocks/>
          </p:cNvCxnSpPr>
          <p:nvPr/>
        </p:nvCxnSpPr>
        <p:spPr>
          <a:xfrm>
            <a:off x="0" y="9086850"/>
            <a:ext cx="10985500" cy="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E6E175B8-72B6-1661-3B48-54E61EA88598}"/>
              </a:ext>
            </a:extLst>
          </p:cNvPr>
          <p:cNvCxnSpPr/>
          <p:nvPr/>
        </p:nvCxnSpPr>
        <p:spPr>
          <a:xfrm>
            <a:off x="14166385" y="9086850"/>
            <a:ext cx="946613" cy="0"/>
          </a:xfrm>
          <a:prstGeom prst="line">
            <a:avLst/>
          </a:prstGeom>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C884528E-8B1E-5EEE-B72E-C4110716762C}"/>
              </a:ext>
            </a:extLst>
          </p:cNvPr>
          <p:cNvPicPr>
            <a:picLocks noChangeAspect="1"/>
          </p:cNvPicPr>
          <p:nvPr/>
        </p:nvPicPr>
        <p:blipFill>
          <a:blip r:embed="rId10"/>
          <a:stretch>
            <a:fillRect/>
          </a:stretch>
        </p:blipFill>
        <p:spPr>
          <a:xfrm>
            <a:off x="3082288" y="12896849"/>
            <a:ext cx="3587550" cy="24002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15d1d70-08f7-43c5-afb2-517a9c55f8a4">
      <Terms xmlns="http://schemas.microsoft.com/office/infopath/2007/PartnerControls"/>
    </lcf76f155ced4ddcb4097134ff3c332f>
    <TaxCatchAll xmlns="e8a1fb65-46a6-407f-add7-c1d711974e3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3727EF0DE2F342A49029EC2BBFF177" ma:contentTypeVersion="10" ma:contentTypeDescription="Create a new document." ma:contentTypeScope="" ma:versionID="f158eb3c86219817d7c98eaa77e90f2f">
  <xsd:schema xmlns:xsd="http://www.w3.org/2001/XMLSchema" xmlns:xs="http://www.w3.org/2001/XMLSchema" xmlns:p="http://schemas.microsoft.com/office/2006/metadata/properties" xmlns:ns2="315d1d70-08f7-43c5-afb2-517a9c55f8a4" xmlns:ns3="e8a1fb65-46a6-407f-add7-c1d711974e39" targetNamespace="http://schemas.microsoft.com/office/2006/metadata/properties" ma:root="true" ma:fieldsID="ca816d383c2357fc252d9dc38ab3061a" ns2:_="" ns3:_="">
    <xsd:import namespace="315d1d70-08f7-43c5-afb2-517a9c55f8a4"/>
    <xsd:import namespace="e8a1fb65-46a6-407f-add7-c1d711974e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5d1d70-08f7-43c5-afb2-517a9c55f8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c387e96-56ce-4293-9bf0-c5d3fd96f7a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a1fb65-46a6-407f-add7-c1d711974e3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21437fa-0c8d-43c7-9e3c-ba0f49e63eac}" ma:internalName="TaxCatchAll" ma:showField="CatchAllData" ma:web="e8a1fb65-46a6-407f-add7-c1d711974e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F1CFD4-2170-43A3-A551-D368F8D7D629}">
  <ds:schemaRef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http://purl.org/dc/terms/"/>
    <ds:schemaRef ds:uri="http://purl.org/dc/dcmitype/"/>
    <ds:schemaRef ds:uri="e8a1fb65-46a6-407f-add7-c1d711974e39"/>
    <ds:schemaRef ds:uri="315d1d70-08f7-43c5-afb2-517a9c55f8a4"/>
  </ds:schemaRefs>
</ds:datastoreItem>
</file>

<file path=customXml/itemProps2.xml><?xml version="1.0" encoding="utf-8"?>
<ds:datastoreItem xmlns:ds="http://schemas.openxmlformats.org/officeDocument/2006/customXml" ds:itemID="{E7AB766D-19D6-477C-9275-D373751CC7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5d1d70-08f7-43c5-afb2-517a9c55f8a4"/>
    <ds:schemaRef ds:uri="e8a1fb65-46a6-407f-add7-c1d711974e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20A96B-0F1C-42A2-8737-1E7E4AC0BE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2190</TotalTime>
  <Words>640</Words>
  <Application>Microsoft Office PowerPoint</Application>
  <PresentationFormat>Custom</PresentationFormat>
  <Paragraphs>37</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Gagalin</vt:lpstr>
      <vt:lpstr>Arial</vt:lpstr>
      <vt:lpstr>Open Sauce Bold</vt:lpstr>
      <vt:lpstr>Aptos</vt:lpstr>
      <vt:lpstr>Times New Roman</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 Online Gaming Spending</dc:title>
  <dc:creator>Arghya Das</dc:creator>
  <dc:description>Poster - Online Gaming Spending</dc:description>
  <cp:lastModifiedBy>ARGHYA DAS</cp:lastModifiedBy>
  <cp:revision>89</cp:revision>
  <dcterms:created xsi:type="dcterms:W3CDTF">2006-08-16T00:00:00Z</dcterms:created>
  <dcterms:modified xsi:type="dcterms:W3CDTF">2025-09-17T15:59:47Z</dcterms:modified>
  <dc:identifier>DAGoYXjEpnI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0x0101008C3727EF0DE2F342A49029EC2BBFF177</vt:lpwstr>
  </property>
</Properties>
</file>